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  <p:sldMasterId id="2147483693" r:id="rId5"/>
  </p:sldMasterIdLst>
  <p:notesMasterIdLst>
    <p:notesMasterId r:id="rId27"/>
  </p:notesMasterIdLst>
  <p:handoutMasterIdLst>
    <p:handoutMasterId r:id="rId28"/>
  </p:handoutMasterIdLst>
  <p:sldIdLst>
    <p:sldId id="259" r:id="rId6"/>
    <p:sldId id="325" r:id="rId7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39" r:id="rId13"/>
    <p:sldId id="340" r:id="rId12"/>
    <p:sldId id="341" r:id="rId11"/>
    <p:sldId id="342" r:id="rId10"/>
    <p:sldId id="343" r:id="rId9"/>
    <p:sldId id="344" r:id="rId8"/>
    <p:sldId id="345" r:id="rId33"/>
    <p:sldId id="346" r:id="rId34"/>
    <p:sldId id="347" r:id="rId35"/>
    <p:sldId id="348" r:id="rId36"/>
    <p:sldId id="349" r:id="rId37"/>
    <p:sldId id="350" r:id="rId38"/>
    <p:sldId id="351" r:id="rId39"/>
    <p:sldId id="352" r:id="rId40"/>
    <p:sldId id="353" r:id="rId41"/>
    <p:sldId id="354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/>
    <p:ext uri="{EFAFB233-063F-42B5-8137-9DF3F51BA10A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pos="2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2BB8"/>
    <a:srgbClr val="EDF1F5"/>
    <a:srgbClr val="F6F0FA"/>
    <a:srgbClr val="FFFFFF"/>
    <a:srgbClr val="708A96"/>
    <a:srgbClr val="414551"/>
    <a:srgbClr val="08D2D9"/>
    <a:srgbClr val="EBE3F9"/>
    <a:srgbClr val="F8F5FD"/>
    <a:srgbClr val="666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61" autoAdjust="0"/>
    <p:restoredTop sz="93733" autoAdjust="0"/>
  </p:normalViewPr>
  <p:slideViewPr>
    <p:cSldViewPr snapToGrid="0">
      <p:cViewPr varScale="1">
        <p:scale>
          <a:sx n="112" d="100"/>
          <a:sy n="112" d="100"/>
        </p:scale>
        <p:origin x="208" y="520"/>
      </p:cViewPr>
      <p:guideLst>
        <p:guide orient="horz" pos="890"/>
        <p:guide pos="2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6480" y="20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21.xml"/><Relationship Id="rId9" Type="http://schemas.openxmlformats.org/officeDocument/2006/relationships/slide" Target="slides/slide20.xml"/><Relationship Id="rId10" Type="http://schemas.openxmlformats.org/officeDocument/2006/relationships/slide" Target="slides/slide19.xml"/><Relationship Id="rId11" Type="http://schemas.openxmlformats.org/officeDocument/2006/relationships/slide" Target="slides/slide18.xml"/><Relationship Id="rId12" Type="http://schemas.openxmlformats.org/officeDocument/2006/relationships/slide" Target="slides/slide17.xml"/><Relationship Id="rId13" Type="http://schemas.openxmlformats.org/officeDocument/2006/relationships/slide" Target="slides/slide16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E945DBF-BDC0-40C1-93D3-E4C36B3D21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80EC6D-FC22-4312-92E6-677D67DC06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9E503-4A5B-49AC-B2BE-FF46CA043398}" type="datetimeFigureOut">
              <a:rPr lang="ko-KR" altLang="en-US" smtClean="0"/>
              <a:t>2025. 12. 30.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77F7F8-A3F3-4270-A06F-1A05BBFC1E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D16EAE-CC23-435D-BA7F-A8545EFA4E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99EA4-7337-4E5A-A36E-3F286335C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577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C261E-1406-41EC-9801-861AC9DAF08B}" type="datetimeFigureOut">
              <a:rPr lang="ko-KR" altLang="en-US" smtClean="0"/>
              <a:t>2025. 12. 30.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0B6F2-7121-4949-985D-6D666348A5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07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ppt표지&#10;">
            <a:extLst>
              <a:ext uri="{FF2B5EF4-FFF2-40B4-BE49-F238E27FC236}">
                <a16:creationId xmlns:a16="http://schemas.microsoft.com/office/drawing/2014/main" id="{3BACF159-CD05-4DE6-8E48-48EBF06DADA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t="22909" b="48809"/>
          <a:stretch/>
        </p:blipFill>
        <p:spPr bwMode="auto">
          <a:xfrm>
            <a:off x="0" y="1516389"/>
            <a:ext cx="12162462" cy="1930615"/>
          </a:xfrm>
          <a:prstGeom prst="rect">
            <a:avLst/>
          </a:prstGeom>
          <a:noFill/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CFF6FF3-93DA-4950-96A8-1F6E10727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6768" y="2025292"/>
            <a:ext cx="7858575" cy="781167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7" name="Picture 3" descr="하나투어ci&#10;">
            <a:extLst>
              <a:ext uri="{FF2B5EF4-FFF2-40B4-BE49-F238E27FC236}">
                <a16:creationId xmlns:a16="http://schemas.microsoft.com/office/drawing/2014/main" id="{0AEC60D9-3B71-4AAB-9DDC-A25892410F5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69421" t="83498" r="3996" b="4764"/>
          <a:stretch/>
        </p:blipFill>
        <p:spPr bwMode="auto">
          <a:xfrm>
            <a:off x="9325433" y="5828232"/>
            <a:ext cx="2566455" cy="671628"/>
          </a:xfrm>
          <a:prstGeom prst="rect">
            <a:avLst/>
          </a:prstGeom>
          <a:noFill/>
        </p:spPr>
      </p:pic>
      <p:pic>
        <p:nvPicPr>
          <p:cNvPr id="10" name="Picture 3" descr="D:\HANATOUR_Brand\CI\CI 교체 건 - 2010\Final\Application\ppt양식\New CI-ppt-표지.png">
            <a:extLst>
              <a:ext uri="{FF2B5EF4-FFF2-40B4-BE49-F238E27FC236}">
                <a16:creationId xmlns:a16="http://schemas.microsoft.com/office/drawing/2014/main" id="{346E9A5F-4956-4E4D-811E-4441C01695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3614" t="11172" r="58305" b="84804"/>
          <a:stretch/>
        </p:blipFill>
        <p:spPr bwMode="auto">
          <a:xfrm>
            <a:off x="391556" y="769620"/>
            <a:ext cx="3710425" cy="2743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354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CED6AB0-0E6A-44D1-ABC0-5F399013A6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28374" y="2948840"/>
            <a:ext cx="10515600" cy="1759817"/>
          </a:xfrm>
        </p:spPr>
        <p:txBody>
          <a:bodyPr anchor="b" anchorCtr="0">
            <a:normAutofit/>
          </a:bodyPr>
          <a:lstStyle>
            <a:lvl1pPr algn="ctr">
              <a:lnSpc>
                <a:spcPct val="150000"/>
              </a:lnSpc>
              <a:spcAft>
                <a:spcPts val="0"/>
              </a:spcAft>
              <a:defRPr sz="4000" b="1">
                <a:solidFill>
                  <a:schemeClr val="bg1"/>
                </a:solidFill>
                <a:latin typeface="여행그자체 Regular" panose="020B0503000000000000" pitchFamily="50" charset="-127"/>
                <a:ea typeface="여행그자체 Regular" panose="020B0503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4195770" y="6644858"/>
            <a:ext cx="7965014" cy="190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35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COPYRIGHT(C) HANATOUR SERVICE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04454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1F0051-DB67-45A4-BAAB-2BAF9CB03E2A}"/>
              </a:ext>
            </a:extLst>
          </p:cNvPr>
          <p:cNvSpPr/>
          <p:nvPr userDrawn="1"/>
        </p:nvSpPr>
        <p:spPr>
          <a:xfrm>
            <a:off x="1" y="3"/>
            <a:ext cx="12192000" cy="91756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8ADA2A-9E9D-41DE-9957-48C1D8C4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" y="238703"/>
            <a:ext cx="10515600" cy="36512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39309B1-1221-0F17-7E50-E7451F8AE566}"/>
              </a:ext>
            </a:extLst>
          </p:cNvPr>
          <p:cNvCxnSpPr>
            <a:cxnSpLocks/>
          </p:cNvCxnSpPr>
          <p:nvPr userDrawn="1"/>
        </p:nvCxnSpPr>
        <p:spPr>
          <a:xfrm>
            <a:off x="0" y="654613"/>
            <a:ext cx="1219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8072864C-CDCF-1694-8E5E-C715E448B2D8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6D7F70D-2199-CEEC-7B38-F1C86E2645EC}"/>
              </a:ext>
            </a:extLst>
          </p:cNvPr>
          <p:cNvCxnSpPr>
            <a:cxnSpLocks/>
          </p:cNvCxnSpPr>
          <p:nvPr userDrawn="1"/>
        </p:nvCxnSpPr>
        <p:spPr>
          <a:xfrm>
            <a:off x="0" y="6547571"/>
            <a:ext cx="1219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스크린샷, 그래픽, 폰트, 디자인이(가) 표시된 사진">
            <a:extLst>
              <a:ext uri="{FF2B5EF4-FFF2-40B4-BE49-F238E27FC236}">
                <a16:creationId xmlns:a16="http://schemas.microsoft.com/office/drawing/2014/main" id="{766B21EF-2A89-51AD-B3E6-20CD00A989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786" y="-298735"/>
            <a:ext cx="203778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65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1F0051-DB67-45A4-BAAB-2BAF9CB03E2A}"/>
              </a:ext>
            </a:extLst>
          </p:cNvPr>
          <p:cNvSpPr/>
          <p:nvPr userDrawn="1"/>
        </p:nvSpPr>
        <p:spPr>
          <a:xfrm>
            <a:off x="1" y="3"/>
            <a:ext cx="12192000" cy="91756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8ADA2A-9E9D-41DE-9957-48C1D8C4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687"/>
            <a:ext cx="10515600" cy="365125"/>
          </a:xfrm>
        </p:spPr>
        <p:txBody>
          <a:bodyPr>
            <a:noAutofit/>
          </a:bodyPr>
          <a:lstStyle>
            <a:lvl1pPr>
              <a:defRPr sz="12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8072864C-CDCF-1694-8E5E-C715E448B2D8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6D7F70D-2199-CEEC-7B38-F1C86E2645EC}"/>
              </a:ext>
            </a:extLst>
          </p:cNvPr>
          <p:cNvCxnSpPr>
            <a:cxnSpLocks/>
          </p:cNvCxnSpPr>
          <p:nvPr userDrawn="1"/>
        </p:nvCxnSpPr>
        <p:spPr>
          <a:xfrm>
            <a:off x="0" y="6547571"/>
            <a:ext cx="1219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스크린샷, 그래픽, 폰트, 디자인이(가) 표시된 사진">
            <a:extLst>
              <a:ext uri="{FF2B5EF4-FFF2-40B4-BE49-F238E27FC236}">
                <a16:creationId xmlns:a16="http://schemas.microsoft.com/office/drawing/2014/main" id="{766B21EF-2A89-51AD-B3E6-20CD00A989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786" y="-298735"/>
            <a:ext cx="203778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46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1F0051-DB67-45A4-BAAB-2BAF9CB03E2A}"/>
              </a:ext>
            </a:extLst>
          </p:cNvPr>
          <p:cNvSpPr/>
          <p:nvPr userDrawn="1"/>
        </p:nvSpPr>
        <p:spPr>
          <a:xfrm>
            <a:off x="1" y="3"/>
            <a:ext cx="12192000" cy="91756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8ADA2A-9E9D-41DE-9957-48C1D8C4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2337"/>
            <a:ext cx="10515600" cy="365125"/>
          </a:xfrm>
        </p:spPr>
        <p:txBody>
          <a:bodyPr>
            <a:noAutofit/>
          </a:bodyPr>
          <a:lstStyle>
            <a:lvl1pPr>
              <a:defRPr sz="12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8072864C-CDCF-1694-8E5E-C715E448B2D8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 descr="스크린샷, 그래픽, 폰트, 디자인이(가) 표시된 사진">
            <a:extLst>
              <a:ext uri="{FF2B5EF4-FFF2-40B4-BE49-F238E27FC236}">
                <a16:creationId xmlns:a16="http://schemas.microsoft.com/office/drawing/2014/main" id="{766B21EF-2A89-51AD-B3E6-20CD00A989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786" y="-298735"/>
            <a:ext cx="203778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48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1F0051-DB67-45A4-BAAB-2BAF9CB03E2A}"/>
              </a:ext>
            </a:extLst>
          </p:cNvPr>
          <p:cNvSpPr/>
          <p:nvPr userDrawn="1"/>
        </p:nvSpPr>
        <p:spPr>
          <a:xfrm>
            <a:off x="1" y="3"/>
            <a:ext cx="12192000" cy="91756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8ADA2A-9E9D-41DE-9957-48C1D8C4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00" y="91759"/>
            <a:ext cx="10515600" cy="365125"/>
          </a:xfrm>
        </p:spPr>
        <p:txBody>
          <a:bodyPr>
            <a:noAutofit/>
          </a:bodyPr>
          <a:lstStyle>
            <a:lvl1pPr>
              <a:defRPr sz="10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8072864C-CDCF-1694-8E5E-C715E448B2D8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C379C01-65CB-A4FE-7FA8-81F97CA3F43B}"/>
              </a:ext>
            </a:extLst>
          </p:cNvPr>
          <p:cNvCxnSpPr>
            <a:cxnSpLocks/>
          </p:cNvCxnSpPr>
          <p:nvPr userDrawn="1"/>
        </p:nvCxnSpPr>
        <p:spPr>
          <a:xfrm>
            <a:off x="50800" y="387034"/>
            <a:ext cx="91122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2A3D35-4726-F8A1-1810-9FFD488EB19D}"/>
              </a:ext>
            </a:extLst>
          </p:cNvPr>
          <p:cNvSpPr/>
          <p:nvPr userDrawn="1"/>
        </p:nvSpPr>
        <p:spPr>
          <a:xfrm>
            <a:off x="50800" y="138485"/>
            <a:ext cx="108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0">
                <a:solidFill>
                  <a:schemeClr val="tx1"/>
                </a:solidFill>
                <a:latin typeface="+mn-ea"/>
                <a:ea typeface="+mn-ea"/>
                <a:cs typeface="ADLaM Display" panose="020F0502020204030204" pitchFamily="2" charset="0"/>
              </a:rPr>
              <a:t>화면경로</a:t>
            </a:r>
          </a:p>
        </p:txBody>
      </p:sp>
    </p:spTree>
    <p:extLst>
      <p:ext uri="{BB962C8B-B14F-4D97-AF65-F5344CB8AC3E}">
        <p14:creationId xmlns:p14="http://schemas.microsoft.com/office/powerpoint/2010/main" val="3554593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1F0051-DB67-45A4-BAAB-2BAF9CB03E2A}"/>
              </a:ext>
            </a:extLst>
          </p:cNvPr>
          <p:cNvSpPr/>
          <p:nvPr userDrawn="1"/>
        </p:nvSpPr>
        <p:spPr>
          <a:xfrm>
            <a:off x="1" y="3"/>
            <a:ext cx="12192000" cy="91756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8ADA2A-9E9D-41DE-9957-48C1D8C4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759"/>
            <a:ext cx="10515600" cy="365125"/>
          </a:xfrm>
        </p:spPr>
        <p:txBody>
          <a:bodyPr>
            <a:noAutofit/>
          </a:bodyPr>
          <a:lstStyle>
            <a:lvl1pPr>
              <a:defRPr sz="10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8072864C-CDCF-1694-8E5E-C715E448B2D8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5413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1F0051-DB67-45A4-BAAB-2BAF9CB03E2A}"/>
              </a:ext>
            </a:extLst>
          </p:cNvPr>
          <p:cNvSpPr/>
          <p:nvPr userDrawn="1"/>
        </p:nvSpPr>
        <p:spPr>
          <a:xfrm>
            <a:off x="1" y="2"/>
            <a:ext cx="12192000" cy="548639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8ADA2A-9E9D-41DE-9957-48C1D8C4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" y="91758"/>
            <a:ext cx="10515600" cy="36512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84289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2232A-05F8-6E92-A7DE-FC300CF7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BEB3E7-5258-8274-C9AB-6A451002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C4E4-B8D7-44C5-AE75-A2A151027218}" type="datetimeFigureOut">
              <a:rPr lang="ko-KR" altLang="en-US" smtClean="0"/>
              <a:pPr/>
              <a:t>2025. 12. 30.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046F39-29CF-1880-75D9-575AE5140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CEE0CC-23AB-A3C4-6007-0B1C5151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285F0-0F6F-464D-84C8-9E7CE7BB8F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42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1FAE5B5-7384-45FA-BED4-60359666D919}"/>
              </a:ext>
            </a:extLst>
          </p:cNvPr>
          <p:cNvCxnSpPr>
            <a:cxnSpLocks/>
          </p:cNvCxnSpPr>
          <p:nvPr userDrawn="1"/>
        </p:nvCxnSpPr>
        <p:spPr>
          <a:xfrm>
            <a:off x="0" y="570851"/>
            <a:ext cx="12192000" cy="0"/>
          </a:xfrm>
          <a:prstGeom prst="line">
            <a:avLst/>
          </a:prstGeom>
          <a:ln w="6350">
            <a:solidFill>
              <a:srgbClr val="2C3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4AAEF5BC-C318-4C65-BB54-23BB96316B6F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2A5C8A9E-98D1-42F6-963D-5C24F31FD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58" y="138315"/>
            <a:ext cx="10515600" cy="549275"/>
          </a:xfrm>
        </p:spPr>
        <p:txBody>
          <a:bodyPr>
            <a:normAutofit/>
          </a:bodyPr>
          <a:lstStyle>
            <a:lvl1pPr>
              <a:defRPr sz="18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22E7217-41C0-4599-88A9-32C111EB8A0B}"/>
              </a:ext>
            </a:extLst>
          </p:cNvPr>
          <p:cNvCxnSpPr>
            <a:cxnSpLocks/>
          </p:cNvCxnSpPr>
          <p:nvPr userDrawn="1"/>
        </p:nvCxnSpPr>
        <p:spPr>
          <a:xfrm>
            <a:off x="0" y="6530946"/>
            <a:ext cx="12192000" cy="0"/>
          </a:xfrm>
          <a:prstGeom prst="line">
            <a:avLst/>
          </a:prstGeom>
          <a:ln w="6350">
            <a:solidFill>
              <a:srgbClr val="2C3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77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14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33968DA-D4F7-AABB-27B7-1132F55AC283}"/>
              </a:ext>
            </a:extLst>
          </p:cNvPr>
          <p:cNvCxnSpPr>
            <a:cxnSpLocks/>
          </p:cNvCxnSpPr>
          <p:nvPr userDrawn="1"/>
        </p:nvCxnSpPr>
        <p:spPr>
          <a:xfrm>
            <a:off x="0" y="827868"/>
            <a:ext cx="11508606" cy="0"/>
          </a:xfrm>
          <a:prstGeom prst="line">
            <a:avLst/>
          </a:prstGeom>
          <a:ln w="28575">
            <a:solidFill>
              <a:srgbClr val="5E2B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스크린샷, 그래픽, 폰트, 디자인이(가) 표시된 사진">
            <a:extLst>
              <a:ext uri="{FF2B5EF4-FFF2-40B4-BE49-F238E27FC236}">
                <a16:creationId xmlns:a16="http://schemas.microsoft.com/office/drawing/2014/main" id="{D748203D-5442-A1C1-51E1-1A1FEBA73F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786" y="-298735"/>
            <a:ext cx="203778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94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스크린샷, 그래픽, 폰트, 디자인이(가) 표시된 사진">
            <a:extLst>
              <a:ext uri="{FF2B5EF4-FFF2-40B4-BE49-F238E27FC236}">
                <a16:creationId xmlns:a16="http://schemas.microsoft.com/office/drawing/2014/main" id="{1C291ED5-3FA6-BFC8-B571-B4FF0E15F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786" y="-298735"/>
            <a:ext cx="203778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29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스크린샷, 그래픽, 폰트, 디자인이(가) 표시된 사진">
            <a:extLst>
              <a:ext uri="{FF2B5EF4-FFF2-40B4-BE49-F238E27FC236}">
                <a16:creationId xmlns:a16="http://schemas.microsoft.com/office/drawing/2014/main" id="{1C291ED5-3FA6-BFC8-B571-B4FF0E15F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786" y="-298735"/>
            <a:ext cx="2037782" cy="1440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2B3D877-C82A-C52F-60FD-4FD0A8B70B6A}"/>
              </a:ext>
            </a:extLst>
          </p:cNvPr>
          <p:cNvSpPr/>
          <p:nvPr userDrawn="1"/>
        </p:nvSpPr>
        <p:spPr>
          <a:xfrm>
            <a:off x="0" y="0"/>
            <a:ext cx="3850105" cy="6858000"/>
          </a:xfrm>
          <a:prstGeom prst="rect">
            <a:avLst/>
          </a:prstGeom>
          <a:solidFill>
            <a:srgbClr val="5E2BB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076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bg>
      <p:bgPr>
        <a:solidFill>
          <a:srgbClr val="5E2B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494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bg>
      <p:bgPr>
        <a:solidFill>
          <a:srgbClr val="5E2B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폰트, 그래픽, 블랙, 스크린샷이(가) 표시된 사진">
            <a:extLst>
              <a:ext uri="{FF2B5EF4-FFF2-40B4-BE49-F238E27FC236}">
                <a16:creationId xmlns:a16="http://schemas.microsoft.com/office/drawing/2014/main" id="{41FC0E55-72B4-4C4C-3A82-5BB6DDCF13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1109" y="-300698"/>
            <a:ext cx="203778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30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129D2C4-C1CA-651D-3AE5-3D4D7F88F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2CC83A-0ED5-491F-DE89-7DF592BE0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71250" y="40531"/>
            <a:ext cx="869950" cy="273050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pPr lvl="0"/>
            <a:endParaRPr lang="ko-KR" altLang="en-US"/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E0CD9EF8-36DF-EE9D-B531-90969C93F7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69500" y="363705"/>
            <a:ext cx="2171700" cy="273050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3243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스토리보드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A4276E-0E54-4E9D-98D6-DF1F3E67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" y="47976"/>
            <a:ext cx="9201150" cy="285399"/>
          </a:xfrm>
          <a:prstGeom prst="rect">
            <a:avLst/>
          </a:prstGeom>
        </p:spPr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A92BD0-1F29-41B1-ADCB-383DD5889E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2200" y="333375"/>
            <a:ext cx="2124075" cy="304097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E28C26-3F0C-355A-A448-5B80E431D3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290300" y="47625"/>
            <a:ext cx="815975" cy="2857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lvl="0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10029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5D203D-DCE8-4E17-803F-0F4A4B805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989EDD-5F06-482C-80D7-361898659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F9D0B4-904E-415F-80D5-99F0EBCD98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010C4E4-B8D7-44C5-AE75-A2A151027218}" type="datetimeFigureOut">
              <a:rPr lang="ko-KR" altLang="en-US" smtClean="0"/>
              <a:pPr/>
              <a:t>2025. 12. 30.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3B3BF-92B3-48E5-A6B3-3EC004FF3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564440-46D4-453B-AD07-4D5774445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879285F0-0F6F-464D-84C8-9E7CE7BB8F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775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8" r:id="rId3"/>
    <p:sldLayoutId id="2147483689" r:id="rId4"/>
    <p:sldLayoutId id="2147483692" r:id="rId5"/>
    <p:sldLayoutId id="2147483691" r:id="rId6"/>
    <p:sldLayoutId id="2147483696" r:id="rId7"/>
    <p:sldLayoutId id="2147483667" r:id="rId8"/>
    <p:sldLayoutId id="2147483682" r:id="rId9"/>
    <p:sldLayoutId id="2147483661" r:id="rId10"/>
    <p:sldLayoutId id="2147483665" r:id="rId11"/>
    <p:sldLayoutId id="2147483688" r:id="rId12"/>
    <p:sldLayoutId id="2147483687" r:id="rId13"/>
    <p:sldLayoutId id="2147483690" r:id="rId14"/>
    <p:sldLayoutId id="2147483684" r:id="rId15"/>
    <p:sldLayoutId id="2147483686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058626-A5B8-44FC-A35B-CED6000EC059}"/>
              </a:ext>
            </a:extLst>
          </p:cNvPr>
          <p:cNvSpPr/>
          <p:nvPr userDrawn="1"/>
        </p:nvSpPr>
        <p:spPr>
          <a:xfrm>
            <a:off x="50244" y="45114"/>
            <a:ext cx="9194033" cy="27237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775DCEF-ED86-4E25-8A4F-08D7AD606C0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36338604"/>
              </p:ext>
            </p:extLst>
          </p:nvPr>
        </p:nvGraphicFramePr>
        <p:xfrm>
          <a:off x="9333970" y="45114"/>
          <a:ext cx="2781198" cy="605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573">
                  <a:extLst>
                    <a:ext uri="{9D8B030D-6E8A-4147-A177-3AD203B41FA5}">
                      <a16:colId xmlns:a16="http://schemas.microsoft.com/office/drawing/2014/main" val="831715918"/>
                    </a:ext>
                  </a:extLst>
                </a:gridCol>
                <a:gridCol w="729758">
                  <a:extLst>
                    <a:ext uri="{9D8B030D-6E8A-4147-A177-3AD203B41FA5}">
                      <a16:colId xmlns:a16="http://schemas.microsoft.com/office/drawing/2014/main" val="2173742454"/>
                    </a:ext>
                  </a:extLst>
                </a:gridCol>
                <a:gridCol w="548053">
                  <a:extLst>
                    <a:ext uri="{9D8B030D-6E8A-4147-A177-3AD203B41FA5}">
                      <a16:colId xmlns:a16="http://schemas.microsoft.com/office/drawing/2014/main" val="90814499"/>
                    </a:ext>
                  </a:extLst>
                </a:gridCol>
                <a:gridCol w="851814">
                  <a:extLst>
                    <a:ext uri="{9D8B030D-6E8A-4147-A177-3AD203B41FA5}">
                      <a16:colId xmlns:a16="http://schemas.microsoft.com/office/drawing/2014/main" val="3992951082"/>
                    </a:ext>
                  </a:extLst>
                </a:gridCol>
              </a:tblGrid>
              <a:tr h="287172"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작성자</a:t>
                      </a:r>
                      <a:endParaRPr lang="en-US" altLang="ko-KR" sz="800" b="0" kern="120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강재희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작성일</a:t>
                      </a:r>
                      <a:endParaRPr lang="en-US" altLang="ko-KR" sz="800" b="0" kern="120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093875"/>
                  </a:ext>
                </a:extLst>
              </a:tr>
              <a:tr h="318137"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ko-KR" altLang="en-US" sz="800" b="1">
                        <a:solidFill>
                          <a:schemeClr val="tx2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975383"/>
                  </a:ext>
                </a:extLst>
              </a:tr>
            </a:tbl>
          </a:graphicData>
        </a:graphic>
      </p:graphicFrame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79DD77-4042-45C0-92CC-0AE8483A5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44" y="40531"/>
            <a:ext cx="9194033" cy="272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5B4302-7B62-4B4A-9C9B-8B1FB9950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98043" y="352567"/>
            <a:ext cx="2054257" cy="272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endParaRPr lang="ko-KR" altLang="en-US" dirty="0"/>
          </a:p>
        </p:txBody>
      </p:sp>
      <p:sp>
        <p:nvSpPr>
          <p:cNvPr id="17" name="슬라이드 번호 개체 틀 4">
            <a:extLst>
              <a:ext uri="{FF2B5EF4-FFF2-40B4-BE49-F238E27FC236}">
                <a16:creationId xmlns:a16="http://schemas.microsoft.com/office/drawing/2014/main" id="{8B108F53-1441-45AC-80EA-956569E918F4}"/>
              </a:ext>
            </a:extLst>
          </p:cNvPr>
          <p:cNvSpPr txBox="1">
            <a:spLocks/>
          </p:cNvSpPr>
          <p:nvPr userDrawn="1"/>
        </p:nvSpPr>
        <p:spPr>
          <a:xfrm>
            <a:off x="10528551" y="6525233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2B5B05-FDF3-41E3-976E-2095C4D0EC88}"/>
              </a:ext>
            </a:extLst>
          </p:cNvPr>
          <p:cNvSpPr/>
          <p:nvPr userDrawn="1"/>
        </p:nvSpPr>
        <p:spPr>
          <a:xfrm>
            <a:off x="50244" y="317488"/>
            <a:ext cx="9194033" cy="64712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E471F4-6489-999C-0C15-CEC591904843}"/>
              </a:ext>
            </a:extLst>
          </p:cNvPr>
          <p:cNvSpPr/>
          <p:nvPr userDrawn="1"/>
        </p:nvSpPr>
        <p:spPr>
          <a:xfrm>
            <a:off x="9330160" y="644327"/>
            <a:ext cx="27864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0">
                <a:solidFill>
                  <a:schemeClr val="tx1"/>
                </a:solidFill>
                <a:latin typeface="+mn-ea"/>
                <a:ea typeface="+mn-ea"/>
                <a:cs typeface="ADLaM Display" panose="020F0502020204030204" pitchFamily="2" charset="0"/>
              </a:rPr>
              <a:t>Description</a:t>
            </a:r>
            <a:endParaRPr lang="ko-KR" altLang="en-US" sz="1000" b="0">
              <a:solidFill>
                <a:schemeClr val="tx1"/>
              </a:solidFill>
              <a:latin typeface="+mn-ea"/>
              <a:ea typeface="+mn-ea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01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1000" b="1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0" indent="0" algn="ctr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21D6C2B-5E1C-451C-9D0B-3F041816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21" y="2645310"/>
            <a:ext cx="11227845" cy="1759817"/>
          </a:xfrm>
        </p:spPr>
        <p:txBody>
          <a:bodyPr anchor="ctr">
            <a:normAutofit/>
          </a:bodyPr>
          <a:lstStyle/>
          <a:p>
            <a:r>
              <a:rPr lang="en-US" altLang="ko-KR" sz="3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KIKI Shop 기획서</a:t>
            </a:r>
            <a:r>
              <a:rPr lang="en-US" altLang="ko-KR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/>
            </a:r>
            <a:r>
              <a:rPr lang="ko-KR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/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C918CB7-8A62-EA15-7C80-4E0BBB0669A8}"/>
              </a:ext>
            </a:extLst>
          </p:cNvPr>
          <p:cNvCxnSpPr>
            <a:cxnSpLocks/>
          </p:cNvCxnSpPr>
          <p:nvPr/>
        </p:nvCxnSpPr>
        <p:spPr>
          <a:xfrm>
            <a:off x="2366433" y="2472266"/>
            <a:ext cx="806450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434197C-443E-1D63-A2F1-C1998DDAAC48}"/>
              </a:ext>
            </a:extLst>
          </p:cNvPr>
          <p:cNvCxnSpPr>
            <a:cxnSpLocks/>
          </p:cNvCxnSpPr>
          <p:nvPr/>
        </p:nvCxnSpPr>
        <p:spPr>
          <a:xfrm>
            <a:off x="2366433" y="4555066"/>
            <a:ext cx="806450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부제목 4">
            <a:extLst>
              <a:ext uri="{FF2B5EF4-FFF2-40B4-BE49-F238E27FC236}">
                <a16:creationId xmlns:a16="http://schemas.microsoft.com/office/drawing/2014/main" id="{5C4031EC-7FDD-1A37-81EE-F908BC906128}"/>
              </a:ext>
            </a:extLst>
          </p:cNvPr>
          <p:cNvSpPr txBox="1">
            <a:spLocks/>
          </p:cNvSpPr>
          <p:nvPr/>
        </p:nvSpPr>
        <p:spPr>
          <a:xfrm>
            <a:off x="9880600" y="5649913"/>
            <a:ext cx="2182813" cy="104457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chemeClr val="bg1"/>
                </a:solidFill>
                <a:latin typeface="+mn-ea"/>
                <a:ea typeface="+mn-ea"/>
              </a:rPr>
              <a:t>공통서비스기획팀 </a:t>
            </a:r>
            <a:endParaRPr lang="en-US" altLang="ko-KR" sz="1000" dirty="0">
              <a:solidFill>
                <a:schemeClr val="bg1"/>
              </a:solidFill>
              <a:latin typeface="+mn-ea"/>
              <a:ea typeface="+mn-ea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en-US" altLang="ko-KR" sz="1000" dirty="0">
                <a:solidFill>
                  <a:schemeClr val="bg1"/>
                </a:solidFill>
                <a:latin typeface="+mn-ea"/>
                <a:ea typeface="+mn-ea"/>
              </a:rPr>
              <a:t>Last update : 2025-12-30</a:t>
            </a:r>
            <a:r>
              <a:rPr lang="en-US" altLang="ko-KR" sz="1000">
                <a:solidFill>
                  <a:schemeClr val="bg1"/>
                </a:solidFill>
                <a:latin typeface="+mn-ea"/>
                <a:ea typeface="+mn-ea"/>
              </a:rPr>
              <a:t/>
            </a:r>
            <a:endParaRPr lang="ko-KR" altLang="en-US" sz="1000" dirty="0">
              <a:solidFill>
                <a:schemeClr val="bg1"/>
              </a:solidFill>
              <a:latin typeface="+mn-ea"/>
              <a:ea typeface="+mn-ea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en-US" altLang="ko-KR" sz="1000" dirty="0">
                <a:solidFill>
                  <a:schemeClr val="bg1"/>
                </a:solidFill>
                <a:latin typeface="+mn-ea"/>
                <a:ea typeface="+mn-ea"/>
              </a:rPr>
              <a:t>Version: 1.0</a:t>
            </a:r>
          </a:p>
        </p:txBody>
      </p:sp>
    </p:spTree>
    <p:extLst>
      <p:ext uri="{BB962C8B-B14F-4D97-AF65-F5344CB8AC3E}">
        <p14:creationId xmlns:p14="http://schemas.microsoft.com/office/powerpoint/2010/main" val="397813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6D7F1A-EDEE-6119-C0A6-30042188C456}"/>
              </a:ext>
            </a:extLst>
          </p:cNvPr>
          <p:cNvSpPr txBox="1"/>
          <p:nvPr/>
        </p:nvSpPr>
        <p:spPr>
          <a:xfrm>
            <a:off x="319788" y="504814"/>
            <a:ext cx="1836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rgbClr val="5E2BB8"/>
                </a:solidFill>
                <a:latin typeface="+mj-ea"/>
                <a:ea typeface="+mj-ea"/>
              </a:rPr>
              <a:t>HISTORY</a:t>
            </a:r>
            <a:endParaRPr lang="ko-KR" altLang="en-US" sz="2000" b="1" dirty="0">
              <a:solidFill>
                <a:srgbClr val="5E2BB8"/>
              </a:solidFill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7CE1C10-5CC7-719A-26A0-0C0FDA4B1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195986"/>
              </p:ext>
            </p:extLst>
          </p:nvPr>
        </p:nvGraphicFramePr>
        <p:xfrm>
          <a:off x="464995" y="1175851"/>
          <a:ext cx="11354471" cy="410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4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0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ver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>
                          <a:latin typeface="+mn-ea"/>
                          <a:ea typeface="+mn-ea"/>
                        </a:rPr>
                        <a:t>1.0</a:t>
                      </a: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>
                          <a:latin typeface="+mn-ea"/>
                          <a:ea typeface="+mn-ea"/>
                        </a:rPr>
                        <a:t>2025.12.30</a:t>
                      </a: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기획서 자동 생성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>
                          <a:latin typeface="+mn-ea"/>
                          <a:ea typeface="+mn-ea"/>
                        </a:rPr>
                        <a:t>Draftify Auto Generator</a:t>
                      </a: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175141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81863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75957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038369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729712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96724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444425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202317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2073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061133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522125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040243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615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87677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61288" y="1133856"/>
            <a:ext cx="2231136" cy="58521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5E2BB8"/>
                </a:solidFill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1700784"/>
            <a:ext cx="3657600" cy="338328"/>
          </a:xfrm>
          <a:prstGeom prst="rect">
            <a:avLst/>
          </a:prstGeom>
          <a:solidFill>
            <a:srgbClr val="5E2BB8"/>
          </a:solidFill>
        </p:spPr>
        <p:txBody>
          <a:bodyPr wrap="square"/>
          <a:lstStyle/>
          <a:p>
            <a:pPr algn="l"/>
            <a:r>
              <a:rPr sz="1600" b="0">
                <a:solidFill>
                  <a:srgbClr val="FFFFFF"/>
                </a:solidFill>
              </a:rPr>
              <a:t>KIKI Shop 정책 및 프로세스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377440"/>
            <a:ext cx="356616" cy="3566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/>
              <a:t>용어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971800"/>
            <a:ext cx="356616" cy="3566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9718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/>
              <a:t>정책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4290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인증/권한 정책 (AUTH)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72160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입력 검증 정책 (VAL)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014216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비즈니스 정책 (BIZ)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306824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결제 정책 (PAY)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59943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에러 처리 정책 (ERR)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8920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보안 정책 (SEC)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377440"/>
            <a:ext cx="356616" cy="3566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77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/>
              <a:t>프로세스 흐름도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8346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전체 서비스 프로세스 개요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12724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핵심 사용자 여정 (Primary User J...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419856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세부 프로세스 정의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712463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분기 조건 정리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00507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예외 흐름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434840"/>
            <a:ext cx="356616" cy="3566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4348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/>
              <a:t>화면상세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8920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화면 목록 요약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518464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SCR-001: 메인 화면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477256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SCR-002: 로그인/회원가입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769864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SCR-003: 상품 목록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606247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SCR-004: 상품 상세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63550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66666"/>
                </a:solidFill>
              </a:rPr>
              <a:t>· SCR-005: 장바구니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05456" y="2249424"/>
            <a:ext cx="7187184" cy="978408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08D2D9"/>
                </a:solidFill>
              </a:rPr>
              <a:t>01 </a:t>
            </a:r>
            <a:r>
              <a:rPr sz="3200" b="1">
                <a:solidFill>
                  <a:srgbClr val="FFFFFF"/>
                </a:solidFill>
              </a:rPr>
              <a:t>용어 정의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/>
              <a:t>용어 정의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117043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1440"/>
                <a:gridCol w="3901440"/>
                <a:gridCol w="3901440"/>
              </a:tblGrid>
              <a:tr h="29260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용어</a:t>
                      </a:r>
                    </a:p>
                  </a:txBody>
                  <a:tcPr>
                    <a:solidFill>
                      <a:srgbClr val="5E2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정의</a:t>
                      </a:r>
                    </a:p>
                  </a:txBody>
                  <a:tcPr>
                    <a:solidFill>
                      <a:srgbClr val="5E2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사용 맥락</a:t>
                      </a:r>
                    </a:p>
                  </a:txBody>
                  <a:tcPr>
                    <a:solidFill>
                      <a:srgbClr val="5E2BB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Stock Keeping Unit. 재고 관리를 위한 상품 고유 식별 단위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상품 등록, 재고 관리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Payment Gateway. 온라인 결제를 중개하는 서비스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결제 처리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Customer Service. 고객 문의 및 불만 처리 서비스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주문 취소, 환불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Gross Merchandise Volume. 총 거래액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매출 리포트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Average Order Value. 평균 주문 금액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매출 분석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172968"/>
          <a:ext cx="117043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1440"/>
                <a:gridCol w="3901440"/>
                <a:gridCol w="3901440"/>
              </a:tblGrid>
              <a:tr h="29260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용어</a:t>
                      </a:r>
                    </a:p>
                  </a:txBody>
                  <a:tcPr>
                    <a:solidFill>
                      <a:srgbClr val="5E2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정의</a:t>
                      </a:r>
                    </a:p>
                  </a:txBody>
                  <a:tcPr>
                    <a:solidFill>
                      <a:srgbClr val="5E2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사용 맥락</a:t>
                      </a:r>
                    </a:p>
                  </a:txBody>
                  <a:tcPr>
                    <a:solidFill>
                      <a:srgbClr val="5E2BB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주문번호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주문 생성 시 부여되는 고유 식별자 (형식: ORD-YYYYMMDD-XXXXX)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주문 조회, CS 처리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결제대기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주문은 생성되었으나 결제가 완료되지 않은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가상계좌, 무통장입금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배송준비중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결제 완료 후 상품 출고 전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주문 상태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배송중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택배사에 상품이 인계된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주문 상태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배송완료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수령인에게 상품이 전달된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주문 상태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05456" y="2249424"/>
            <a:ext cx="7187184" cy="978408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08D2D9"/>
                </a:solidFill>
              </a:rPr>
              <a:t>02 </a:t>
            </a:r>
            <a:r>
              <a:rPr sz="3200" b="1">
                <a:solidFill>
                  <a:srgbClr val="FFFFFF"/>
                </a:solidFill>
              </a:rPr>
              <a:t>정책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22392" y="3803904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3776472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인증/권한 정책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22392" y="4279392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4251959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입력 검증 정책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2392" y="4754880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4727448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비즈니스 정책</a:t>
            </a:r>
          </a:p>
        </p:txBody>
      </p:sp>
      <p:sp>
        <p:nvSpPr>
          <p:cNvPr id="9" name="Rectangle 8"/>
          <p:cNvSpPr/>
          <p:nvPr/>
        </p:nvSpPr>
        <p:spPr>
          <a:xfrm>
            <a:off x="5422392" y="5230368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5202936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결제 정책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2392" y="5705856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5678424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에러 처리 정책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22392" y="6181344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6153912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보안 정책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/>
              <a:t>1. 1. 인증/권한 정책 (AUTH)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70432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/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/>
              <a:t>2. 2. 입력 검증 정책 (VAL)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70432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/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/>
              <a:t>3. 3. 비즈니스 정책 (BIZ)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70432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/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/>
              <a:t>4. 4. 결제 정책 (PAY)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70432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/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/>
              <a:t>5. 5. 에러 처리 정책 (ERR)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70432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/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/>
              <a:t>6. 6. 보안 정책 (SEC)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70432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/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05456" y="2249424"/>
            <a:ext cx="7187184" cy="978408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08D2D9"/>
                </a:solidFill>
              </a:rPr>
              <a:t>03 </a:t>
            </a:r>
            <a:r>
              <a:rPr sz="3200" b="1">
                <a:solidFill>
                  <a:srgbClr val="FFFFFF"/>
                </a:solidFill>
              </a:rPr>
              <a:t>프로세스 흐름도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22392" y="3803904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3776472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전체 서비스 프로세스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22392" y="4279392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4251959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핵심 사용자 여정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2392" y="4754880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4727448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세부 프로세스 정의</a:t>
            </a:r>
          </a:p>
        </p:txBody>
      </p:sp>
      <p:sp>
        <p:nvSpPr>
          <p:cNvPr id="9" name="Rectangle 8"/>
          <p:cNvSpPr/>
          <p:nvPr/>
        </p:nvSpPr>
        <p:spPr>
          <a:xfrm>
            <a:off x="5422392" y="5230368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5202936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분기 조건 정리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2392" y="5705856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5678424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예외 흐름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/>
              <a:t>3-1. 1. 전체 서비스 프로세스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704320" cy="5303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/>
              <a:t>
```
[진입] → [탐색] → [인증] → [주문준비] → [결제] → [완료] → [관리]
```
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/>
              <a:t>3-2. 2. 핵심 사용자 여정 (Primary User Journey)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704320" cy="5303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/>
              <a:t>
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/>
              <a:t>3-3. 3. 세부 프로세스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704320" cy="5303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/>
              <a:t>
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/>
              <a:t>3-4. 4. 분기 조건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704320" cy="5303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/>
              <a:t>
| 분기점 | 조건 | True 경로 | False 경로 |
|--------|------|----------|-----------|
| 로그인 상태 확인 | 토큰 유효 | 결제 진행 | 로그인 화면 |
| 장바구니 품절 확인 | 품절 상품 존재 | 품절 알림 | 주문 진행 |
| 무료배송 조건 | 금액 ≥ 50,000 | 배송비 0원 | 배송비 3,000원 |
| 로그인 실패 횟수 | 횟수 ≥ 5 | 계정 잠금 | 재시도 허용 |
| 주문 취소 가능 | 30분 이내 | 즉시 취소 | CS 문의 안내 |
---
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05456" y="2249424"/>
            <a:ext cx="7187184" cy="978408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08D2D9"/>
                </a:solidFill>
              </a:rPr>
              <a:t>04 </a:t>
            </a:r>
            <a:r>
              <a:rPr sz="3200" b="1">
                <a:solidFill>
                  <a:srgbClr val="FFFFFF"/>
                </a:solidFill>
              </a:rPr>
              <a:t>화면상세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22392" y="3803904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3776472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SCR-001: 메인 화면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22392" y="4279392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4251959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SCR-002: 로그인/회원가입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2392" y="4754880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4727448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SCR-003: 상품 목록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22392" y="5230368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5202936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SCR-004: 상품 상세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2392" y="5705856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5678424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SCR-005: 장바구니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22392" y="6181344"/>
            <a:ext cx="283464" cy="283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6153912"/>
            <a:ext cx="2697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/>
              <a:t>SCR-006: 주문/결제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/>
              <a:t>화면 목록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117043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  <a:gridCol w="2926080"/>
              </a:tblGrid>
              <a:tr h="320039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화면 ID</a:t>
                      </a:r>
                    </a:p>
                  </a:txBody>
                  <a:tcPr>
                    <a:solidFill>
                      <a:srgbClr val="5E2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화면명</a:t>
                      </a:r>
                    </a:p>
                  </a:txBody>
                  <a:tcPr>
                    <a:solidFill>
                      <a:srgbClr val="5E2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목적</a:t>
                      </a:r>
                    </a:p>
                  </a:txBody>
                  <a:tcPr>
                    <a:solidFill>
                      <a:srgbClr val="5E2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5E2BB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SCR-001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메인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서비스 진입점, 주요 상품 및 프로모션 노출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/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SCR-002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로그인/회원가입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사용자 인증 및 신규 회원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/auth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SCR-003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상품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카테고리별 상품 브라우징 및 필터링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/products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SCR-004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상품 상세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개별 상품 정보 확인 및 옵션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/products/:id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SCR-005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장바구니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선택한 상품 관리 및 수량 조절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/cart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SCR-006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주문/결제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배송지 입력 및 결제 수단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/checkout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SCR-007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주문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주문 성공 확인 및 주문 번호 안내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/order/complete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SCR-008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마이페이지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회원 정보 및 활동 내역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/mypage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SCR-009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주문 내역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과거 주문 이력 조회 및 상태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/mypage/orders</a:t>
                      </a:r>
                    </a:p>
                  </a:txBody>
                  <a:tcPr/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SCR-010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검색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키워드 기반 상품 검색 결과 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/search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4. 화면상세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SCR-001: 메인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37160"/>
            <a:ext cx="2807208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000000"/>
                </a:solidFill>
              </a:rPr>
              <a:t>Description</a:t>
            </a:r>
          </a:p>
        </p:txBody>
      </p:sp>
      <p:pic>
        <p:nvPicPr>
          <p:cNvPr id="7" name="Picture 6" descr="SCR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114800" cy="23145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0" y="411480"/>
          <a:ext cx="280720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48716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📑참고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 ID: SCR-001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화면명: 메인 화면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목적: 서비스 진입점, 주요 상품 및 프로모션 노출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URL: /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프로세스 단계: 탐색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기본 정보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 ID: SCR-001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화면명: 메인 화면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목적: 서비스 진입점으로서 주요 상품, 프로모션, 카테고리 노출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URL: 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진입 조건: 없음 (누구나 접근 가능)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이탈 조건: 다른 화면으로 이동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UI 구성 요소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| 요소 ID | 요소 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4. 화면상세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SCR-002: 로그인/회원가입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37160"/>
            <a:ext cx="2807208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000000"/>
                </a:solidFill>
              </a:rPr>
              <a:t>Description</a:t>
            </a:r>
          </a:p>
        </p:txBody>
      </p:sp>
      <p:pic>
        <p:nvPicPr>
          <p:cNvPr id="7" name="Picture 6" descr="SCR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114800" cy="23145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0" y="411480"/>
          <a:ext cx="280720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48716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📑참고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 ID: SCR-002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화면명: 로그인/회원가입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목적: 사용자 인증 및 신규 회원 등록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URL: /auth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프로세스 단계: 인증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기본 정보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 ID: SCR-002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화면명: 로그인/회원가입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목적: 사용자 인증 및 신규 회원 등록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URL: 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진입 조건: 비로그인 상태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이탈 조건: 로그인 성공 또는 취소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UI 구성 요소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| 요소 ID | 요소 유형 | 설명 | 표시 조건 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4. 화면상세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SCR-003: 상품 목록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37160"/>
            <a:ext cx="2807208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000000"/>
                </a:solidFill>
              </a:rPr>
              <a:t>Description</a:t>
            </a:r>
          </a:p>
        </p:txBody>
      </p:sp>
      <p:pic>
        <p:nvPicPr>
          <p:cNvPr id="7" name="Picture 6" descr="SCR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114800" cy="23145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0" y="411480"/>
          <a:ext cx="280720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48716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📑참고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 ID: SCR-003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화면명: 상품 목록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목적: 카테고리별 상품 브라우징 및 필터링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URL: /products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프로세스 단계: 탐색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기본 정보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 ID: SCR-003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화면명: 상품 목록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목적: 카테고리별 상품 브라우징 및 필터링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URL: 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진입 조건: 없음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이탈 조건: 상품 클릭 또는 다른 화면 이동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UI 구성 요소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| 요소 ID | 요소 유형 | 설명 | 표시 조건  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4. 화면상세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SCR-004: 상품 상세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37160"/>
            <a:ext cx="2807208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000000"/>
                </a:solidFill>
              </a:rPr>
              <a:t>Description</a:t>
            </a:r>
          </a:p>
        </p:txBody>
      </p:sp>
      <p:pic>
        <p:nvPicPr>
          <p:cNvPr id="7" name="Picture 6" descr="SCR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114800" cy="23145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0" y="411480"/>
          <a:ext cx="280720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48716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📑참고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 ID: SCR-004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화면명: 상품 상세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목적: 개별 상품 정보 확인 및 옵션 선택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URL: /products/:id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프로세스 단계: 탐색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기본 정보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 ID: SCR-004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화면명: 상품 상세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목적: 개별 상품 정보 확인 및 옵션 선택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URL: 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진입 조건: 없음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이탈 조건: 장바구니 담기 또는 구매하기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UI 구성 요소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| 요소 ID | 요소 유형 | 설명 | 표시 조건  CA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4. 화면상세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SCR-005: 장바구니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37160"/>
            <a:ext cx="2807208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000000"/>
                </a:solidFill>
              </a:rPr>
              <a:t>Description</a:t>
            </a:r>
          </a:p>
        </p:txBody>
      </p:sp>
      <p:pic>
        <p:nvPicPr>
          <p:cNvPr id="7" name="Picture 6" descr="SCR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114800" cy="23145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0" y="411480"/>
          <a:ext cx="280720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48716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📑참고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 ID: SCR-005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화면명: 장바구니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목적: 선택한 상품 관리 및 수량 조절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URL: /cart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프로세스 단계: 주문 준비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기본 정보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 ID: SCR-005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화면명: 장바구니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목적: 선택한 상품 관리 및 수량 조절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URL: 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진입 조건: 없음 (빈 장바구니도 접근 가능)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이탈 조건: 주문하기 또는 쇼핑 계속하기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UI 구성 요소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| 요소 ID | 요소 유형 | 설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4. 화면상세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SCR-006: 주문/결제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37160"/>
            <a:ext cx="2807208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000000"/>
                </a:solidFill>
              </a:rPr>
              <a:t>Description</a:t>
            </a:r>
          </a:p>
        </p:txBody>
      </p:sp>
      <p:pic>
        <p:nvPicPr>
          <p:cNvPr id="7" name="Picture 6" descr="SCR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114800" cy="23145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0" y="411480"/>
          <a:ext cx="280720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48716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📑참고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 ID: SCR-006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화면명: 주문/결제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목적: 배송지 입력 및 결제 수단 선택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URL: /checkout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프로세스 단계: 결제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기본 정보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 ID: SCR-006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화면명: 주문/결제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목적: 배송지 입력 및 결제 수단 선택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URL: 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진입 조건: 로그인 상태 (또는 비회원 주문)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이탈 조건: 결제 완료 또는 취소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UI 구성 요소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| 요소 ID | 요소 유형 | 설명 |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4. 화면상세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SCR-007: 주문 완료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37160"/>
            <a:ext cx="2807208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000000"/>
                </a:solidFill>
              </a:rPr>
              <a:t>Description</a:t>
            </a:r>
          </a:p>
        </p:txBody>
      </p:sp>
      <p:pic>
        <p:nvPicPr>
          <p:cNvPr id="7" name="Picture 6" descr="SCR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114800" cy="23145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0" y="411480"/>
          <a:ext cx="280720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48716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📑참고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 ID: SCR-007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화면명: 주문 완료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목적: 주문 성공 확인 및 주문 번호 안내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URL: /order/complete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프로세스 단계: 완료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기본 정보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 ID: SCR-007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화면명: 주문 완료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목적: 주문 성공 확인 및 주문 번호 안내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URL: 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진입 조건: 결제 성공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이탈 조건: 메인으로 이동 또는 주문 내역 확인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UI 구성 요소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| 요소 ID | 요소 유형 | 설명 | 표시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4. 화면상세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SCR-008: 마이페이지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37160"/>
            <a:ext cx="2807208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000000"/>
                </a:solidFill>
              </a:rPr>
              <a:t>Description</a:t>
            </a:r>
          </a:p>
        </p:txBody>
      </p:sp>
      <p:pic>
        <p:nvPicPr>
          <p:cNvPr id="7" name="Picture 6" descr="SCR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114800" cy="23145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0" y="411480"/>
          <a:ext cx="280720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48716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📑참고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 ID: SCR-008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화면명: 마이페이지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목적: 회원 정보 및 활동 내역 조회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URL: /mypage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프로세스 단계: 관리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기본 정보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 ID: SCR-008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화면명: 마이페이지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목적: 회원 정보 및 활동 내역 조회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URL: 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진입 조건: 로그인 상태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이탈 조건: 다른 화면으로 이동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UI 구성 요소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| 요소 ID | 요소 유형 | 설명 | 표시 조건  CARD-0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4. 화면상세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SCR-009: 주문 내역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37160"/>
            <a:ext cx="2807208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000000"/>
                </a:solidFill>
              </a:rPr>
              <a:t>Description</a:t>
            </a:r>
          </a:p>
        </p:txBody>
      </p:sp>
      <p:pic>
        <p:nvPicPr>
          <p:cNvPr id="7" name="Picture 6" descr="SCR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114800" cy="23145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0" y="411480"/>
          <a:ext cx="280720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48716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📑참고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 ID: SCR-009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화면명: 주문 내역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목적: 과거 주문 이력 조회 및 상태 확인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URL: /mypage/orders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프로세스 단계: 관리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기본 정보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 ID: SCR-009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화면명: 주문 내역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목적: 과거 주문 이력 조회 및 상태 확인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URL: 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진입 조건: 로그인 상태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이탈 조건: 다른 화면으로 이동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UI 구성 요소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| 요소 ID | 요소 유형 | 설명 | 표시 조건  FOR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4. 화면상세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/>
              <a:t>SCR-010: 검색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37160"/>
            <a:ext cx="2807208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000000"/>
                </a:solidFill>
              </a:rPr>
              <a:t>Description</a:t>
            </a:r>
          </a:p>
        </p:txBody>
      </p:sp>
      <p:pic>
        <p:nvPicPr>
          <p:cNvPr id="7" name="Picture 6" descr="SCR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114800" cy="23145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0" y="411480"/>
          <a:ext cx="280720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48716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📑참고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 ID: SCR-010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화면명: 검색 결과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목적: 키워드 기반 상품 검색 결과 표시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URL: /search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프로세스 단계: 탐색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noFill/>
                    <a:lnL w="0">
                      <a:noFill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기본 정보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 ID: SCR-010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화면명: 검색 결과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목적: 키워드 기반 상품 검색 결과 표시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URL: 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진입 조건: 검색어 입력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- 이탈 조건: 상품 클릭 또는 다른 검색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UI 구성 요소</a:t>
                      </a:r>
                    </a:p>
                    <a:p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| 요소 ID | 요소 유형 | 설명 | 표시 조건  </a:t>
                      </a:r>
                    </a:p>
                  </a:txBody>
                  <a:tcPr>
                    <a:noFill/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20040" y="502920"/>
            <a:ext cx="2743200" cy="58521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/>
              <a:t>참고 문헌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1371600"/>
            <a:ext cx="11356848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/>
              <a:t>• KIKI Shop PRD v1.0
• 결제 연동 가이드 (KG이니시스)
• UI/UX 디자인 시스템 v2.0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54096" y="2871216"/>
            <a:ext cx="6236208" cy="5577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666666"/>
                </a:solidFill>
              </a:rPr>
              <a:t>End of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8">
      <a:majorFont>
        <a:latin typeface="여행그자체 Regular"/>
        <a:ea typeface="여행그자체 Regular"/>
        <a:cs typeface=""/>
      </a:majorFont>
      <a:minorFont>
        <a:latin typeface="여행그자체 Light"/>
        <a:ea typeface="여행그자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스토리보드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8426556E29EEA42BFF00BF76EE53163" ma:contentTypeVersion="13" ma:contentTypeDescription="새 문서를 만듭니다." ma:contentTypeScope="" ma:versionID="eefafc993bc30cab6dae972987fdbe82">
  <xsd:schema xmlns:xsd="http://www.w3.org/2001/XMLSchema" xmlns:xs="http://www.w3.org/2001/XMLSchema" xmlns:p="http://schemas.microsoft.com/office/2006/metadata/properties" xmlns:ns2="b01b8897-487a-43f2-90f4-2a76c297682f" xmlns:ns3="c45d3d72-e746-494a-a046-a0fa930ed3b4" targetNamespace="http://schemas.microsoft.com/office/2006/metadata/properties" ma:root="true" ma:fieldsID="34d56b5d9113573ee40c6068588fecdd" ns2:_="" ns3:_="">
    <xsd:import namespace="b01b8897-487a-43f2-90f4-2a76c297682f"/>
    <xsd:import namespace="c45d3d72-e746-494a-a046-a0fa930ed3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1b8897-487a-43f2-90f4-2a76c29768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Flow_SignoffStatus" ma:index="20" nillable="true" ma:displayName="사인 오프 상태" ma:internalName="_xc0ac__xc778__x0020__xc624__xd504__x0020__xc0c1__xd0dc_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5d3d72-e746-494a-a046-a0fa930ed3b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b01b8897-487a-43f2-90f4-2a76c297682f" xsi:nil="true"/>
  </documentManagement>
</p:properties>
</file>

<file path=customXml/itemProps1.xml><?xml version="1.0" encoding="utf-8"?>
<ds:datastoreItem xmlns:ds="http://schemas.openxmlformats.org/officeDocument/2006/customXml" ds:itemID="{5C5DCAA0-07E5-418C-A41A-9A990F2D5E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1b8897-487a-43f2-90f4-2a76c297682f"/>
    <ds:schemaRef ds:uri="c45d3d72-e746-494a-a046-a0fa930ed3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2C4076-7BB3-4C3A-A0DB-A1CC388F5D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01527C-B53D-4C7D-80EB-D06FA30316D0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purl.org/dc/dcmitype/"/>
    <ds:schemaRef ds:uri="c45d3d72-e746-494a-a046-a0fa930ed3b4"/>
    <ds:schemaRef ds:uri="b01b8897-487a-43f2-90f4-2a76c297682f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29645</TotalTime>
  <Words>1973</Words>
  <Application>Microsoft Macintosh PowerPoint</Application>
  <PresentationFormat>와이드스크린</PresentationFormat>
  <Paragraphs>478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여행그자체 Light</vt:lpstr>
      <vt:lpstr>여행그자체 Regular</vt:lpstr>
      <vt:lpstr>Atlassian Sans</vt:lpstr>
      <vt:lpstr>맑은 고딕</vt:lpstr>
      <vt:lpstr>나눔고딕</vt:lpstr>
      <vt:lpstr>Arial</vt:lpstr>
      <vt:lpstr>Wingdings</vt:lpstr>
      <vt:lpstr>Office 테마</vt:lpstr>
      <vt:lpstr>스토리보드</vt:lpstr>
      <vt:lpstr>Draftify 기획서</vt:lpstr>
      <vt:lpstr>PowerPoint 프레젠테이션</vt:lpstr>
      <vt:lpstr>PowerPoint 프레젠테이션</vt:lpstr>
      <vt:lpstr>PowerPoint 프레젠테이션</vt:lpstr>
      <vt:lpstr>1. 회원종류 및 주요정책</vt:lpstr>
      <vt:lpstr>PowerPoint 프레젠테이션</vt:lpstr>
      <vt:lpstr>2. 로그인 정책</vt:lpstr>
      <vt:lpstr>PowerPoint 프레젠테이션</vt:lpstr>
      <vt:lpstr>3. 통합회원 정책</vt:lpstr>
      <vt:lpstr>3. 통합회원 정책</vt:lpstr>
      <vt:lpstr>PowerPoint 프레젠테이션</vt:lpstr>
      <vt:lpstr>4. SNS회원 정책</vt:lpstr>
      <vt:lpstr>PowerPoint 프레젠테이션</vt:lpstr>
      <vt:lpstr>5. 탈퇴정책</vt:lpstr>
      <vt:lpstr>PowerPoint 프레젠테이션</vt:lpstr>
      <vt:lpstr>6. 프로세스 흐름도</vt:lpstr>
      <vt:lpstr>6. 프로세스 흐름도</vt:lpstr>
      <vt:lpstr>6. 프로세스 흐름도</vt:lpstr>
      <vt:lpstr>PowerPoint 프레젠테이션</vt:lpstr>
      <vt:lpstr>7. 화면상세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강재희</dc:creator>
  <cp:lastModifiedBy>김병광</cp:lastModifiedBy>
  <cp:revision>1089</cp:revision>
  <dcterms:created xsi:type="dcterms:W3CDTF">2020-11-23T01:18:53Z</dcterms:created>
  <dcterms:modified xsi:type="dcterms:W3CDTF">2025-12-30T02:06:24Z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0x010100E8426556E29EEA42BFF00BF76EE53163</vt:lpwstr>
  </property>
</Properties>
</file>